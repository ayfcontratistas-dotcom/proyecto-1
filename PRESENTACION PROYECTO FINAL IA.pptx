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9" r:id="rId4"/>
    <p:sldId id="260" r:id="rId5"/>
    <p:sldId id="261" r:id="rId6"/>
    <p:sldId id="262" r:id="rId7"/>
    <p:sldId id="257" r:id="rId8"/>
    <p:sldId id="258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20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FB7675-4CBA-46A5-BBC8-954CF54AAC68}" v="187" dt="2025-11-22T22:58:00.569"/>
    <p1510:client id="{65E59275-BD4E-49CA-998F-1B9FD62713A4}" v="1194" dt="2025-11-23T09:01:49.3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0"/>
            <a:ext cx="1097280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58774" y="1826887"/>
            <a:ext cx="7963692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Segoe UI"/>
              </a:defRPr>
            </a:pPr>
            <a:r>
              <a:rPr sz="2400" dirty="0"/>
              <a:t>INFLACIÓN </a:t>
            </a:r>
            <a:r>
              <a:rPr lang="es-ES" sz="2400" dirty="0"/>
              <a:t>PAIS </a:t>
            </a:r>
            <a:r>
              <a:rPr sz="2400" dirty="0"/>
              <a:t>VS PRECIOS DE MATERIALES</a:t>
            </a:r>
            <a:r>
              <a:rPr lang="es-ES" sz="2400" dirty="0"/>
              <a:t> DE LA CONSTRUCCION</a:t>
            </a:r>
            <a:endParaRPr lang="es-ES" sz="2400">
              <a:cs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523245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400">
                <a:solidFill>
                  <a:srgbClr val="B4B4B4"/>
                </a:solidFill>
                <a:latin typeface="Segoe UI"/>
              </a:defRPr>
            </a:pPr>
            <a:r>
              <a:rPr dirty="0" err="1"/>
              <a:t>Alumno</a:t>
            </a:r>
            <a:r>
              <a:rPr dirty="0"/>
              <a:t>: </a:t>
            </a:r>
            <a:r>
              <a:rPr dirty="0" err="1"/>
              <a:t>Fredtick</a:t>
            </a:r>
            <a:r>
              <a:rPr dirty="0"/>
              <a:t> Castillo Colmenares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860" y="2040"/>
            <a:ext cx="11298315" cy="712582"/>
          </a:xfrm>
        </p:spPr>
        <p:txBody>
          <a:bodyPr/>
          <a:lstStyle/>
          <a:p>
            <a:pPr>
              <a:defRPr sz="32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Metodología del Análisis</a:t>
            </a:r>
            <a:endParaRPr lang="es-ES" dirty="0">
              <a:solidFill>
                <a:schemeClr val="bg1"/>
              </a:solidFill>
              <a:cs typeface="Segoe U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501" y="725016"/>
            <a:ext cx="11398694" cy="495638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defRPr sz="2000">
                <a:latin typeface="Segoe UI"/>
              </a:defRPr>
            </a:pPr>
            <a:r>
              <a:rPr sz="1800" dirty="0">
                <a:solidFill>
                  <a:schemeClr val="bg1"/>
                </a:solidFill>
              </a:rPr>
              <a:t>La metodología utilizada para el análisis fue la siguiente:</a:t>
            </a:r>
            <a:endParaRPr lang="es-ES" sz="1800" dirty="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endParaRPr lang="es-ES" sz="1800" dirty="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lang="es-ES" sz="1800" dirty="0">
                <a:solidFill>
                  <a:schemeClr val="bg1"/>
                </a:solidFill>
                <a:cs typeface="Segoe UI"/>
              </a:rPr>
              <a:t>1)Creamos un proyecto personal buscando las variables independientes y dependientes, criterio, tendencia, </a:t>
            </a:r>
            <a:r>
              <a:rPr lang="es-ES" sz="1800" dirty="0" err="1">
                <a:solidFill>
                  <a:schemeClr val="bg1"/>
                </a:solidFill>
                <a:cs typeface="Segoe UI"/>
              </a:rPr>
              <a:t>prediccion</a:t>
            </a:r>
            <a:r>
              <a:rPr lang="es-ES" sz="1800" dirty="0">
                <a:solidFill>
                  <a:schemeClr val="bg1"/>
                </a:solidFill>
                <a:cs typeface="Segoe UI"/>
              </a:rPr>
              <a:t>, expectativa u objetivo y lo </a:t>
            </a:r>
            <a:r>
              <a:rPr lang="es-ES" sz="1800" dirty="0" err="1">
                <a:solidFill>
                  <a:schemeClr val="bg1"/>
                </a:solidFill>
                <a:cs typeface="Segoe UI"/>
              </a:rPr>
              <a:t>mas</a:t>
            </a:r>
            <a:r>
              <a:rPr lang="es-ES" sz="1800" dirty="0">
                <a:solidFill>
                  <a:schemeClr val="bg1"/>
                </a:solidFill>
                <a:cs typeface="Segoe UI"/>
              </a:rPr>
              <a:t> importante que proceso íbamos a realizar, cual era nuestra entrada, operaciones a realizar y la salida o respuesta</a:t>
            </a:r>
            <a:endParaRPr sz="180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lang="es-ES" sz="1800" dirty="0">
                <a:solidFill>
                  <a:schemeClr val="bg1"/>
                </a:solidFill>
                <a:cs typeface="Segoe UI"/>
              </a:rPr>
              <a:t>2) Se hizo un </a:t>
            </a:r>
            <a:r>
              <a:rPr lang="es-ES" sz="1800" err="1">
                <a:solidFill>
                  <a:schemeClr val="bg1"/>
                </a:solidFill>
                <a:cs typeface="Segoe UI"/>
              </a:rPr>
              <a:t>analisis</a:t>
            </a:r>
            <a:r>
              <a:rPr lang="es-ES" sz="1800" dirty="0">
                <a:solidFill>
                  <a:schemeClr val="bg1"/>
                </a:solidFill>
                <a:cs typeface="Segoe UI"/>
              </a:rPr>
              <a:t> de datos exploratorios basados en el desconocimiento en un rango de 9 años anteriores desde 2016 al 2024</a:t>
            </a:r>
          </a:p>
          <a:p>
            <a:pPr>
              <a:defRPr sz="2000">
                <a:latin typeface="Segoe UI"/>
              </a:defRPr>
            </a:pPr>
            <a:r>
              <a:rPr lang="es-ES" sz="1800" dirty="0">
                <a:solidFill>
                  <a:schemeClr val="bg1"/>
                </a:solidFill>
              </a:rPr>
              <a:t>3)</a:t>
            </a:r>
            <a:r>
              <a:rPr sz="1800" dirty="0">
                <a:solidFill>
                  <a:schemeClr val="bg1"/>
                </a:solidFill>
              </a:rPr>
              <a:t> </a:t>
            </a:r>
            <a:r>
              <a:rPr lang="es-ES" sz="1800" dirty="0">
                <a:solidFill>
                  <a:schemeClr val="bg1"/>
                </a:solidFill>
              </a:rPr>
              <a:t>Creamos una data en </a:t>
            </a:r>
            <a:r>
              <a:rPr lang="es-ES" sz="1800" err="1">
                <a:solidFill>
                  <a:schemeClr val="bg1"/>
                </a:solidFill>
              </a:rPr>
              <a:t>exccel</a:t>
            </a:r>
            <a:r>
              <a:rPr lang="es-ES" sz="1800" dirty="0">
                <a:solidFill>
                  <a:schemeClr val="bg1"/>
                </a:solidFill>
              </a:rPr>
              <a:t> con datos aleatorios muy </a:t>
            </a:r>
            <a:r>
              <a:rPr lang="es-ES" sz="1800" err="1">
                <a:solidFill>
                  <a:schemeClr val="bg1"/>
                </a:solidFill>
              </a:rPr>
              <a:t>serca</a:t>
            </a:r>
            <a:r>
              <a:rPr lang="es-ES" sz="1800" dirty="0">
                <a:solidFill>
                  <a:schemeClr val="bg1"/>
                </a:solidFill>
              </a:rPr>
              <a:t> a la realidad, para este proyecto utilizamos la </a:t>
            </a:r>
            <a:r>
              <a:rPr lang="es-ES" sz="1800" err="1">
                <a:solidFill>
                  <a:schemeClr val="bg1"/>
                </a:solidFill>
              </a:rPr>
              <a:t>inflacion</a:t>
            </a:r>
            <a:r>
              <a:rPr lang="es-ES" sz="1800" dirty="0">
                <a:solidFill>
                  <a:schemeClr val="bg1"/>
                </a:solidFill>
              </a:rPr>
              <a:t> del </a:t>
            </a:r>
            <a:r>
              <a:rPr lang="es-ES" sz="1800" err="1">
                <a:solidFill>
                  <a:schemeClr val="bg1"/>
                </a:solidFill>
              </a:rPr>
              <a:t>pais</a:t>
            </a:r>
            <a:r>
              <a:rPr lang="es-ES" sz="1800" dirty="0">
                <a:solidFill>
                  <a:schemeClr val="bg1"/>
                </a:solidFill>
              </a:rPr>
              <a:t> de </a:t>
            </a:r>
            <a:r>
              <a:rPr lang="es-ES" sz="1800" err="1">
                <a:solidFill>
                  <a:schemeClr val="bg1"/>
                </a:solidFill>
              </a:rPr>
              <a:t>españa</a:t>
            </a:r>
            <a:r>
              <a:rPr lang="es-ES" sz="1800" dirty="0">
                <a:solidFill>
                  <a:schemeClr val="bg1"/>
                </a:solidFill>
              </a:rPr>
              <a:t> y valores de materiales de </a:t>
            </a:r>
            <a:r>
              <a:rPr lang="es-ES" sz="1800" err="1">
                <a:solidFill>
                  <a:schemeClr val="bg1"/>
                </a:solidFill>
              </a:rPr>
              <a:t>construccion</a:t>
            </a:r>
            <a:r>
              <a:rPr lang="es-ES" sz="1800" dirty="0">
                <a:solidFill>
                  <a:schemeClr val="bg1"/>
                </a:solidFill>
              </a:rPr>
              <a:t> </a:t>
            </a:r>
            <a:r>
              <a:rPr lang="es-ES" sz="1800" err="1">
                <a:solidFill>
                  <a:schemeClr val="bg1"/>
                </a:solidFill>
              </a:rPr>
              <a:t>criticos</a:t>
            </a:r>
            <a:r>
              <a:rPr lang="es-ES" sz="1800" dirty="0">
                <a:solidFill>
                  <a:schemeClr val="bg1"/>
                </a:solidFill>
              </a:rPr>
              <a:t> como el cemento, arena, hierro y el ladrillo.</a:t>
            </a:r>
            <a:endParaRPr lang="es-ES" sz="1800" dirty="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lang="es-ES" sz="1800" dirty="0">
                <a:solidFill>
                  <a:schemeClr val="bg1"/>
                </a:solidFill>
              </a:rPr>
              <a:t>4)Hicimos un </a:t>
            </a:r>
            <a:r>
              <a:rPr lang="es-ES" sz="1800" err="1">
                <a:solidFill>
                  <a:schemeClr val="bg1"/>
                </a:solidFill>
              </a:rPr>
              <a:t>analisis</a:t>
            </a:r>
            <a:r>
              <a:rPr lang="es-ES" sz="1800" dirty="0">
                <a:solidFill>
                  <a:schemeClr val="bg1"/>
                </a:solidFill>
              </a:rPr>
              <a:t> de datos como la media, mediana, rango, </a:t>
            </a:r>
            <a:r>
              <a:rPr lang="es-ES" sz="1800" err="1">
                <a:solidFill>
                  <a:schemeClr val="bg1"/>
                </a:solidFill>
              </a:rPr>
              <a:t>minimo</a:t>
            </a:r>
            <a:r>
              <a:rPr lang="es-ES" sz="1800" dirty="0">
                <a:solidFill>
                  <a:schemeClr val="bg1"/>
                </a:solidFill>
              </a:rPr>
              <a:t>, </a:t>
            </a:r>
            <a:r>
              <a:rPr lang="es-ES" sz="1800" err="1">
                <a:solidFill>
                  <a:schemeClr val="bg1"/>
                </a:solidFill>
              </a:rPr>
              <a:t>maximo</a:t>
            </a:r>
            <a:r>
              <a:rPr lang="es-ES" sz="1800" dirty="0">
                <a:solidFill>
                  <a:schemeClr val="bg1"/>
                </a:solidFill>
              </a:rPr>
              <a:t> , intervalos, amplitud, promedio y operaciones como la frecuencia absoluta y relativa, </a:t>
            </a:r>
            <a:r>
              <a:rPr lang="es-ES" sz="1800" err="1">
                <a:solidFill>
                  <a:schemeClr val="bg1"/>
                </a:solidFill>
              </a:rPr>
              <a:t>dandole</a:t>
            </a:r>
            <a:r>
              <a:rPr lang="es-ES" sz="1800" dirty="0">
                <a:solidFill>
                  <a:schemeClr val="bg1"/>
                </a:solidFill>
              </a:rPr>
              <a:t> 5 niveles o </a:t>
            </a:r>
            <a:r>
              <a:rPr lang="es-ES" sz="1800" err="1">
                <a:solidFill>
                  <a:schemeClr val="bg1"/>
                </a:solidFill>
              </a:rPr>
              <a:t>categorias</a:t>
            </a:r>
            <a:r>
              <a:rPr lang="es-ES" sz="1800" dirty="0">
                <a:solidFill>
                  <a:schemeClr val="bg1"/>
                </a:solidFill>
              </a:rPr>
              <a:t> como bajo, regular, bueno, excelente </a:t>
            </a:r>
            <a:endParaRPr lang="es-ES" sz="1800" dirty="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lang="es-ES" sz="1800" dirty="0">
                <a:solidFill>
                  <a:schemeClr val="bg1"/>
                </a:solidFill>
              </a:rPr>
              <a:t>5)</a:t>
            </a:r>
            <a:r>
              <a:rPr sz="1800" dirty="0">
                <a:solidFill>
                  <a:schemeClr val="bg1"/>
                </a:solidFill>
              </a:rPr>
              <a:t> </a:t>
            </a:r>
            <a:r>
              <a:rPr lang="es-ES" sz="1800" dirty="0">
                <a:solidFill>
                  <a:schemeClr val="bg1"/>
                </a:solidFill>
              </a:rPr>
              <a:t>Se realizaron graficas en </a:t>
            </a:r>
            <a:r>
              <a:rPr lang="es-ES" sz="1800" err="1">
                <a:solidFill>
                  <a:schemeClr val="bg1"/>
                </a:solidFill>
              </a:rPr>
              <a:t>exccel</a:t>
            </a:r>
            <a:r>
              <a:rPr lang="es-ES" sz="1800" dirty="0">
                <a:solidFill>
                  <a:schemeClr val="bg1"/>
                </a:solidFill>
              </a:rPr>
              <a:t> para </a:t>
            </a:r>
            <a:r>
              <a:rPr lang="es-ES" sz="1800" err="1">
                <a:solidFill>
                  <a:schemeClr val="bg1"/>
                </a:solidFill>
              </a:rPr>
              <a:t>interpretacion</a:t>
            </a:r>
            <a:r>
              <a:rPr lang="es-ES" sz="1800" dirty="0">
                <a:solidFill>
                  <a:schemeClr val="bg1"/>
                </a:solidFill>
              </a:rPr>
              <a:t> visual de barras, circular, lineal, </a:t>
            </a:r>
            <a:r>
              <a:rPr lang="es-ES" sz="1800" err="1">
                <a:solidFill>
                  <a:schemeClr val="bg1"/>
                </a:solidFill>
              </a:rPr>
              <a:t>dispercion</a:t>
            </a:r>
            <a:r>
              <a:rPr lang="es-ES" sz="1800" dirty="0">
                <a:solidFill>
                  <a:schemeClr val="bg1"/>
                </a:solidFill>
              </a:rPr>
              <a:t>, bigote y </a:t>
            </a:r>
            <a:r>
              <a:rPr lang="es-ES" sz="1800" err="1">
                <a:solidFill>
                  <a:schemeClr val="bg1"/>
                </a:solidFill>
              </a:rPr>
              <a:t>marimeco</a:t>
            </a:r>
            <a:endParaRPr lang="es-ES" sz="180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lang="es-ES" sz="1800" dirty="0">
                <a:solidFill>
                  <a:schemeClr val="bg1"/>
                </a:solidFill>
              </a:rPr>
              <a:t>6)</a:t>
            </a:r>
            <a:r>
              <a:rPr sz="1800" dirty="0">
                <a:solidFill>
                  <a:schemeClr val="bg1"/>
                </a:solidFill>
              </a:rPr>
              <a:t> </a:t>
            </a:r>
            <a:r>
              <a:rPr lang="es-ES" sz="1800" err="1">
                <a:solidFill>
                  <a:schemeClr val="bg1"/>
                </a:solidFill>
              </a:rPr>
              <a:t>Cálculamos</a:t>
            </a:r>
            <a:r>
              <a:rPr lang="es-ES" sz="1800" dirty="0">
                <a:solidFill>
                  <a:schemeClr val="bg1"/>
                </a:solidFill>
              </a:rPr>
              <a:t> el r2 lineal y </a:t>
            </a:r>
            <a:r>
              <a:rPr lang="es-ES" sz="1800" err="1">
                <a:solidFill>
                  <a:schemeClr val="bg1"/>
                </a:solidFill>
              </a:rPr>
              <a:t>dandonos</a:t>
            </a:r>
            <a:r>
              <a:rPr lang="es-ES" sz="1800" dirty="0">
                <a:solidFill>
                  <a:schemeClr val="bg1"/>
                </a:solidFill>
              </a:rPr>
              <a:t> valores muy bajos, </a:t>
            </a:r>
            <a:r>
              <a:rPr lang="es-ES" sz="1800" err="1">
                <a:solidFill>
                  <a:schemeClr val="bg1"/>
                </a:solidFill>
              </a:rPr>
              <a:t>utlizamos</a:t>
            </a:r>
            <a:r>
              <a:rPr lang="es-ES" sz="1800" dirty="0">
                <a:solidFill>
                  <a:schemeClr val="bg1"/>
                </a:solidFill>
              </a:rPr>
              <a:t> la </a:t>
            </a:r>
            <a:r>
              <a:rPr lang="es-ES" sz="1800" err="1">
                <a:solidFill>
                  <a:schemeClr val="bg1"/>
                </a:solidFill>
              </a:rPr>
              <a:t>linea</a:t>
            </a:r>
            <a:r>
              <a:rPr lang="es-ES" sz="1800" dirty="0">
                <a:solidFill>
                  <a:schemeClr val="bg1"/>
                </a:solidFill>
              </a:rPr>
              <a:t> </a:t>
            </a:r>
            <a:r>
              <a:rPr lang="es-ES" sz="1800" err="1">
                <a:solidFill>
                  <a:schemeClr val="bg1"/>
                </a:solidFill>
              </a:rPr>
              <a:t>polinomica</a:t>
            </a:r>
            <a:r>
              <a:rPr lang="es-ES" sz="1800" dirty="0">
                <a:solidFill>
                  <a:schemeClr val="bg1"/>
                </a:solidFill>
              </a:rPr>
              <a:t> mejorando el ajuste</a:t>
            </a:r>
            <a:endParaRPr sz="180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lang="es-ES" sz="1800" dirty="0">
                <a:solidFill>
                  <a:schemeClr val="bg1"/>
                </a:solidFill>
              </a:rPr>
              <a:t>7)</a:t>
            </a:r>
            <a:r>
              <a:rPr sz="1800" dirty="0">
                <a:solidFill>
                  <a:schemeClr val="bg1"/>
                </a:solidFill>
              </a:rPr>
              <a:t> </a:t>
            </a:r>
            <a:r>
              <a:rPr lang="es-ES" sz="1800" dirty="0">
                <a:solidFill>
                  <a:schemeClr val="bg1"/>
                </a:solidFill>
              </a:rPr>
              <a:t>Creamos un </a:t>
            </a:r>
            <a:r>
              <a:rPr lang="es-ES" sz="1800" dirty="0" err="1">
                <a:solidFill>
                  <a:schemeClr val="bg1"/>
                </a:solidFill>
              </a:rPr>
              <a:t>codigo</a:t>
            </a:r>
            <a:r>
              <a:rPr lang="es-ES" sz="1800" dirty="0">
                <a:solidFill>
                  <a:schemeClr val="bg1"/>
                </a:solidFill>
              </a:rPr>
              <a:t> en (VS estudio </a:t>
            </a:r>
            <a:r>
              <a:rPr lang="es-ES" sz="1800" dirty="0" err="1">
                <a:solidFill>
                  <a:schemeClr val="bg1"/>
                </a:solidFill>
              </a:rPr>
              <a:t>code</a:t>
            </a:r>
            <a:r>
              <a:rPr lang="es-ES" sz="1800" dirty="0">
                <a:solidFill>
                  <a:schemeClr val="bg1"/>
                </a:solidFill>
              </a:rPr>
              <a:t>) importando </a:t>
            </a:r>
            <a:r>
              <a:rPr lang="es-ES" sz="1800" dirty="0" err="1">
                <a:solidFill>
                  <a:schemeClr val="bg1"/>
                </a:solidFill>
              </a:rPr>
              <a:t>librerias</a:t>
            </a:r>
            <a:r>
              <a:rPr lang="es-ES" sz="1800" dirty="0">
                <a:solidFill>
                  <a:schemeClr val="bg1"/>
                </a:solidFill>
              </a:rPr>
              <a:t> y buscamos la ruta de nuestra data para importarla desde </a:t>
            </a:r>
            <a:r>
              <a:rPr lang="es-ES" sz="1800" dirty="0" err="1">
                <a:solidFill>
                  <a:schemeClr val="bg1"/>
                </a:solidFill>
              </a:rPr>
              <a:t>exccel</a:t>
            </a:r>
            <a:r>
              <a:rPr lang="es-ES" sz="1800" dirty="0">
                <a:solidFill>
                  <a:schemeClr val="bg1"/>
                </a:solidFill>
              </a:rPr>
              <a:t> en </a:t>
            </a:r>
            <a:r>
              <a:rPr lang="es-ES" sz="1800" dirty="0" err="1">
                <a:solidFill>
                  <a:schemeClr val="bg1"/>
                </a:solidFill>
              </a:rPr>
              <a:t>csv</a:t>
            </a:r>
            <a:r>
              <a:rPr lang="es-ES" sz="1800" dirty="0">
                <a:solidFill>
                  <a:schemeClr val="bg1"/>
                </a:solidFill>
              </a:rPr>
              <a:t>.</a:t>
            </a:r>
            <a:endParaRPr lang="es-ES" sz="1800" dirty="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lang="es-ES" sz="1800" dirty="0">
                <a:solidFill>
                  <a:schemeClr val="bg1"/>
                </a:solidFill>
              </a:rPr>
              <a:t>8)</a:t>
            </a:r>
            <a:r>
              <a:rPr sz="1800" dirty="0">
                <a:solidFill>
                  <a:schemeClr val="bg1"/>
                </a:solidFill>
              </a:rPr>
              <a:t> </a:t>
            </a:r>
            <a:r>
              <a:rPr lang="es-ES" sz="1800" dirty="0">
                <a:solidFill>
                  <a:schemeClr val="bg1"/>
                </a:solidFill>
              </a:rPr>
              <a:t>Utilizamos funciones como </a:t>
            </a:r>
            <a:r>
              <a:rPr lang="es-ES" sz="1800" dirty="0" err="1">
                <a:solidFill>
                  <a:schemeClr val="bg1"/>
                </a:solidFill>
              </a:rPr>
              <a:t>def</a:t>
            </a:r>
            <a:r>
              <a:rPr lang="es-ES" sz="1800" dirty="0">
                <a:solidFill>
                  <a:schemeClr val="bg1"/>
                </a:solidFill>
              </a:rPr>
              <a:t>, </a:t>
            </a:r>
            <a:r>
              <a:rPr lang="es-ES" sz="1800" dirty="0" err="1">
                <a:solidFill>
                  <a:schemeClr val="bg1"/>
                </a:solidFill>
              </a:rPr>
              <a:t>if</a:t>
            </a:r>
            <a:r>
              <a:rPr lang="es-ES" sz="1800" dirty="0">
                <a:solidFill>
                  <a:schemeClr val="bg1"/>
                </a:solidFill>
              </a:rPr>
              <a:t>, </a:t>
            </a:r>
            <a:r>
              <a:rPr lang="es-ES" sz="1800" dirty="0" err="1">
                <a:solidFill>
                  <a:schemeClr val="bg1"/>
                </a:solidFill>
              </a:rPr>
              <a:t>for</a:t>
            </a:r>
            <a:r>
              <a:rPr lang="es-ES" sz="1800" dirty="0">
                <a:solidFill>
                  <a:schemeClr val="bg1"/>
                </a:solidFill>
              </a:rPr>
              <a:t> I in, </a:t>
            </a:r>
            <a:r>
              <a:rPr lang="es-ES" sz="1800" dirty="0" err="1">
                <a:solidFill>
                  <a:schemeClr val="bg1"/>
                </a:solidFill>
              </a:rPr>
              <a:t>len</a:t>
            </a:r>
            <a:r>
              <a:rPr lang="es-ES" sz="1800" dirty="0">
                <a:solidFill>
                  <a:schemeClr val="bg1"/>
                </a:solidFill>
              </a:rPr>
              <a:t>, </a:t>
            </a:r>
            <a:r>
              <a:rPr lang="es-ES" sz="1800" dirty="0" err="1">
                <a:solidFill>
                  <a:schemeClr val="bg1"/>
                </a:solidFill>
              </a:rPr>
              <a:t>index</a:t>
            </a:r>
            <a:r>
              <a:rPr lang="es-ES" sz="1800" dirty="0">
                <a:solidFill>
                  <a:schemeClr val="bg1"/>
                </a:solidFill>
              </a:rPr>
              <a:t>, zip, y el grado como variable </a:t>
            </a:r>
            <a:r>
              <a:rPr lang="es-ES" sz="1800" dirty="0" err="1">
                <a:solidFill>
                  <a:schemeClr val="bg1"/>
                </a:solidFill>
              </a:rPr>
              <a:t>basandose</a:t>
            </a:r>
            <a:r>
              <a:rPr lang="es-ES" sz="1800" dirty="0">
                <a:solidFill>
                  <a:schemeClr val="bg1"/>
                </a:solidFill>
              </a:rPr>
              <a:t> en su calidad y resistencia y graficamos con </a:t>
            </a:r>
            <a:r>
              <a:rPr lang="es-ES" sz="1800" dirty="0" err="1">
                <a:solidFill>
                  <a:schemeClr val="bg1"/>
                </a:solidFill>
              </a:rPr>
              <a:t>plt</a:t>
            </a:r>
            <a:r>
              <a:rPr lang="es-ES" sz="1800" dirty="0">
                <a:solidFill>
                  <a:schemeClr val="bg1"/>
                </a:solidFill>
              </a:rPr>
              <a:t>, </a:t>
            </a:r>
            <a:r>
              <a:rPr lang="es-ES" sz="1800" dirty="0" err="1">
                <a:solidFill>
                  <a:schemeClr val="bg1"/>
                </a:solidFill>
              </a:rPr>
              <a:t>anexandole</a:t>
            </a:r>
            <a:r>
              <a:rPr lang="es-ES" sz="1800" dirty="0">
                <a:solidFill>
                  <a:schemeClr val="bg1"/>
                </a:solidFill>
              </a:rPr>
              <a:t> colores.</a:t>
            </a:r>
            <a:endParaRPr lang="es-ES" sz="1800" dirty="0">
              <a:solidFill>
                <a:schemeClr val="bg1"/>
              </a:solidFill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Gráfico: CEMENTO</a:t>
            </a:r>
            <a:endParaRPr lang="es-ES" dirty="0">
              <a:solidFill>
                <a:schemeClr val="bg1"/>
              </a:solidFill>
              <a:cs typeface="Segoe UI"/>
            </a:endParaRPr>
          </a:p>
        </p:txBody>
      </p:sp>
      <p:pic>
        <p:nvPicPr>
          <p:cNvPr id="3" name="Picture 2" descr="CEMENTO_graf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89" y="1208759"/>
            <a:ext cx="10058400" cy="5228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Segoe UI"/>
              </a:defRPr>
            </a:pPr>
            <a:r>
              <a:rPr err="1">
                <a:solidFill>
                  <a:schemeClr val="bg1"/>
                </a:solidFill>
              </a:rPr>
              <a:t>Gráfico</a:t>
            </a:r>
            <a:r>
              <a:rPr dirty="0">
                <a:solidFill>
                  <a:schemeClr val="bg1"/>
                </a:solidFill>
              </a:rPr>
              <a:t>: ARENA</a:t>
            </a:r>
          </a:p>
        </p:txBody>
      </p:sp>
      <p:pic>
        <p:nvPicPr>
          <p:cNvPr id="3" name="Picture 2" descr="ARENA_graf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59" y="1165433"/>
            <a:ext cx="10058400" cy="54582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Gráfico: HIERRO</a:t>
            </a:r>
            <a:endParaRPr lang="es-ES" dirty="0">
              <a:solidFill>
                <a:schemeClr val="bg1"/>
              </a:solidFill>
              <a:cs typeface="Segoe UI"/>
            </a:endParaRPr>
          </a:p>
        </p:txBody>
      </p:sp>
      <p:pic>
        <p:nvPicPr>
          <p:cNvPr id="3" name="Picture 2" descr="HIERRO_graf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30" y="1137358"/>
            <a:ext cx="10058400" cy="54293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Gráfico: LADRILLO</a:t>
            </a:r>
            <a:endParaRPr lang="es-ES" dirty="0">
              <a:solidFill>
                <a:schemeClr val="bg1"/>
              </a:solidFill>
              <a:cs typeface="Segoe UI"/>
            </a:endParaRPr>
          </a:p>
        </p:txBody>
      </p:sp>
      <p:pic>
        <p:nvPicPr>
          <p:cNvPr id="3" name="Picture 2" descr="LADRILLO_graf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058400" cy="51249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Resumen </a:t>
            </a:r>
            <a:endParaRPr lang="es-ES" dirty="0">
              <a:solidFill>
                <a:schemeClr val="bg1"/>
              </a:solidFill>
              <a:cs typeface="Segoe U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089949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El análisis demuestra que:</a:t>
            </a:r>
            <a:endParaRPr lang="es-ES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• El </a:t>
            </a:r>
            <a:r>
              <a:rPr dirty="0" err="1">
                <a:solidFill>
                  <a:schemeClr val="bg1"/>
                </a:solidFill>
              </a:rPr>
              <a:t>cemento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presenta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fuerte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correlación</a:t>
            </a:r>
            <a:r>
              <a:rPr dirty="0">
                <a:solidFill>
                  <a:schemeClr val="bg1"/>
                </a:solidFill>
              </a:rPr>
              <a:t> con la </a:t>
            </a:r>
            <a:r>
              <a:rPr dirty="0" err="1">
                <a:solidFill>
                  <a:schemeClr val="bg1"/>
                </a:solidFill>
              </a:rPr>
              <a:t>inflación</a:t>
            </a:r>
            <a:r>
              <a:rPr dirty="0">
                <a:solidFill>
                  <a:schemeClr val="bg1"/>
                </a:solidFill>
              </a:rPr>
              <a:t> (R² &gt; 0.91).</a:t>
            </a:r>
            <a:endParaRPr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• Arena, </a:t>
            </a:r>
            <a:r>
              <a:rPr err="1">
                <a:solidFill>
                  <a:schemeClr val="bg1"/>
                </a:solidFill>
              </a:rPr>
              <a:t>hierro</a:t>
            </a:r>
            <a:r>
              <a:rPr dirty="0">
                <a:solidFill>
                  <a:schemeClr val="bg1"/>
                </a:solidFill>
              </a:rPr>
              <a:t> y </a:t>
            </a:r>
            <a:r>
              <a:rPr err="1">
                <a:solidFill>
                  <a:schemeClr val="bg1"/>
                </a:solidFill>
              </a:rPr>
              <a:t>ladrillo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muestran</a:t>
            </a:r>
            <a:r>
              <a:rPr dirty="0">
                <a:solidFill>
                  <a:schemeClr val="bg1"/>
                </a:solidFill>
              </a:rPr>
              <a:t> baja </a:t>
            </a:r>
            <a:r>
              <a:rPr err="1">
                <a:solidFill>
                  <a:schemeClr val="bg1"/>
                </a:solidFill>
              </a:rPr>
              <a:t>dependencia</a:t>
            </a:r>
            <a:r>
              <a:rPr dirty="0">
                <a:solidFill>
                  <a:schemeClr val="bg1"/>
                </a:solidFill>
              </a:rPr>
              <a:t> de la </a:t>
            </a:r>
            <a:r>
              <a:rPr err="1">
                <a:solidFill>
                  <a:schemeClr val="bg1"/>
                </a:solidFill>
              </a:rPr>
              <a:t>inflación</a:t>
            </a:r>
            <a:r>
              <a:rPr dirty="0">
                <a:solidFill>
                  <a:schemeClr val="bg1"/>
                </a:solidFill>
              </a:rPr>
              <a:t> (R² 0.05–0.08).</a:t>
            </a:r>
            <a:endParaRPr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• La </a:t>
            </a:r>
            <a:r>
              <a:rPr err="1">
                <a:solidFill>
                  <a:schemeClr val="bg1"/>
                </a:solidFill>
              </a:rPr>
              <a:t>inflación</a:t>
            </a:r>
            <a:r>
              <a:rPr dirty="0">
                <a:solidFill>
                  <a:schemeClr val="bg1"/>
                </a:solidFill>
              </a:rPr>
              <a:t> solo es </a:t>
            </a:r>
            <a:r>
              <a:rPr err="1">
                <a:solidFill>
                  <a:schemeClr val="bg1"/>
                </a:solidFill>
              </a:rPr>
              <a:t>útil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como</a:t>
            </a:r>
            <a:r>
              <a:rPr dirty="0">
                <a:solidFill>
                  <a:schemeClr val="bg1"/>
                </a:solidFill>
              </a:rPr>
              <a:t> predictor para </a:t>
            </a:r>
            <a:r>
              <a:rPr err="1">
                <a:solidFill>
                  <a:schemeClr val="bg1"/>
                </a:solidFill>
              </a:rPr>
              <a:t>el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cemento</a:t>
            </a:r>
            <a:r>
              <a:rPr dirty="0">
                <a:solidFill>
                  <a:schemeClr val="bg1"/>
                </a:solidFill>
              </a:rPr>
              <a:t>.</a:t>
            </a:r>
            <a:endParaRPr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• Los </a:t>
            </a:r>
            <a:r>
              <a:rPr err="1">
                <a:solidFill>
                  <a:schemeClr val="bg1"/>
                </a:solidFill>
              </a:rPr>
              <a:t>otros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materiales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requieren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más</a:t>
            </a:r>
            <a:r>
              <a:rPr dirty="0">
                <a:solidFill>
                  <a:schemeClr val="bg1"/>
                </a:solidFill>
              </a:rPr>
              <a:t> variables </a:t>
            </a:r>
            <a:r>
              <a:rPr err="1">
                <a:solidFill>
                  <a:schemeClr val="bg1"/>
                </a:solidFill>
              </a:rPr>
              <a:t>económicas</a:t>
            </a:r>
            <a:r>
              <a:rPr dirty="0">
                <a:solidFill>
                  <a:schemeClr val="bg1"/>
                </a:solidFill>
              </a:rPr>
              <a:t> para un </a:t>
            </a:r>
            <a:r>
              <a:rPr err="1">
                <a:solidFill>
                  <a:schemeClr val="bg1"/>
                </a:solidFill>
              </a:rPr>
              <a:t>modelo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sólido</a:t>
            </a:r>
            <a:r>
              <a:rPr dirty="0">
                <a:solidFill>
                  <a:schemeClr val="bg1"/>
                </a:solidFill>
              </a:rPr>
              <a:t>.</a:t>
            </a:r>
            <a:endParaRPr>
              <a:solidFill>
                <a:schemeClr val="bg1"/>
              </a:solidFill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Conclusiones </a:t>
            </a:r>
            <a:endParaRPr lang="es-ES" dirty="0">
              <a:solidFill>
                <a:schemeClr val="bg1"/>
              </a:solidFill>
              <a:cs typeface="Segoe U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572499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• El cemento depende fuertemente de la inflación.</a:t>
            </a:r>
            <a:endParaRPr lang="es-ES" dirty="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• Arena, </a:t>
            </a:r>
            <a:r>
              <a:rPr dirty="0" err="1">
                <a:solidFill>
                  <a:schemeClr val="bg1"/>
                </a:solidFill>
              </a:rPr>
              <a:t>hierro</a:t>
            </a:r>
            <a:r>
              <a:rPr dirty="0">
                <a:solidFill>
                  <a:schemeClr val="bg1"/>
                </a:solidFill>
              </a:rPr>
              <a:t> y </a:t>
            </a:r>
            <a:r>
              <a:rPr dirty="0" err="1">
                <a:solidFill>
                  <a:schemeClr val="bg1"/>
                </a:solidFill>
              </a:rPr>
              <a:t>ladrillo</a:t>
            </a:r>
            <a:r>
              <a:rPr lang="es-ES" dirty="0">
                <a:solidFill>
                  <a:schemeClr val="bg1"/>
                </a:solidFill>
              </a:rPr>
              <a:t> </a:t>
            </a:r>
            <a:r>
              <a:rPr lang="es-ES" dirty="0" err="1">
                <a:solidFill>
                  <a:schemeClr val="bg1"/>
                </a:solidFill>
              </a:rPr>
              <a:t>varian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por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factores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externos</a:t>
            </a:r>
            <a:r>
              <a:rPr dirty="0">
                <a:solidFill>
                  <a:schemeClr val="bg1"/>
                </a:solidFill>
              </a:rPr>
              <a:t>:</a:t>
            </a:r>
            <a:endParaRPr dirty="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   - Costes de </a:t>
            </a:r>
            <a:r>
              <a:rPr dirty="0" err="1">
                <a:solidFill>
                  <a:schemeClr val="bg1"/>
                </a:solidFill>
              </a:rPr>
              <a:t>transporte</a:t>
            </a:r>
            <a:r>
              <a:rPr lang="es-ES" dirty="0">
                <a:solidFill>
                  <a:schemeClr val="bg1"/>
                </a:solidFill>
              </a:rPr>
              <a:t>, basados en la gasolina</a:t>
            </a:r>
            <a:endParaRPr dirty="0" err="1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   - </a:t>
            </a:r>
            <a:r>
              <a:rPr err="1">
                <a:solidFill>
                  <a:schemeClr val="bg1"/>
                </a:solidFill>
              </a:rPr>
              <a:t>Demanda</a:t>
            </a:r>
            <a:r>
              <a:rPr dirty="0">
                <a:solidFill>
                  <a:schemeClr val="bg1"/>
                </a:solidFill>
              </a:rPr>
              <a:t> del sector </a:t>
            </a:r>
            <a:r>
              <a:rPr err="1">
                <a:solidFill>
                  <a:schemeClr val="bg1"/>
                </a:solidFill>
              </a:rPr>
              <a:t>construcción</a:t>
            </a:r>
            <a:endParaRPr err="1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   - Mercados </a:t>
            </a:r>
            <a:r>
              <a:rPr err="1">
                <a:solidFill>
                  <a:schemeClr val="bg1"/>
                </a:solidFill>
              </a:rPr>
              <a:t>internacionales</a:t>
            </a:r>
            <a:endParaRPr err="1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   - </a:t>
            </a:r>
            <a:r>
              <a:rPr lang="es-ES" dirty="0">
                <a:solidFill>
                  <a:schemeClr val="bg1"/>
                </a:solidFill>
              </a:rPr>
              <a:t>clima o estaciones del año</a:t>
            </a:r>
            <a:endParaRPr lang="es-ES" dirty="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• Se </a:t>
            </a:r>
            <a:r>
              <a:rPr err="1">
                <a:solidFill>
                  <a:schemeClr val="bg1"/>
                </a:solidFill>
              </a:rPr>
              <a:t>recomienda</a:t>
            </a:r>
            <a:r>
              <a:rPr dirty="0">
                <a:solidFill>
                  <a:schemeClr val="bg1"/>
                </a:solidFill>
              </a:rPr>
              <a:t> usar </a:t>
            </a:r>
            <a:r>
              <a:rPr err="1">
                <a:solidFill>
                  <a:schemeClr val="bg1"/>
                </a:solidFill>
              </a:rPr>
              <a:t>modelos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multivariables</a:t>
            </a:r>
            <a:r>
              <a:rPr dirty="0">
                <a:solidFill>
                  <a:schemeClr val="bg1"/>
                </a:solidFill>
              </a:rPr>
              <a:t> para </a:t>
            </a:r>
            <a:r>
              <a:rPr err="1">
                <a:solidFill>
                  <a:schemeClr val="bg1"/>
                </a:solidFill>
              </a:rPr>
              <a:t>mejorar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predicción</a:t>
            </a:r>
            <a:r>
              <a:rPr dirty="0">
                <a:solidFill>
                  <a:schemeClr val="bg1"/>
                </a:solidFill>
              </a:rPr>
              <a:t>.</a:t>
            </a:r>
            <a:endParaRPr dirty="0">
              <a:solidFill>
                <a:schemeClr val="bg1"/>
              </a:solidFill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0607" y="45081"/>
            <a:ext cx="8229600" cy="1143000"/>
          </a:xfrm>
        </p:spPr>
        <p:txBody>
          <a:bodyPr/>
          <a:lstStyle/>
          <a:p>
            <a:pPr>
              <a:defRPr sz="32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Predicciones Basadas en Inflación</a:t>
            </a:r>
            <a:endParaRPr lang="es-ES" dirty="0">
              <a:solidFill>
                <a:schemeClr val="bg1"/>
              </a:solidFill>
              <a:cs typeface="Segoe U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8477"/>
            <a:ext cx="10960586" cy="492768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Las predicciones se realizaron aplicando modelos polinómicos grado 8:</a:t>
            </a:r>
            <a:endParaRPr lang="es-ES" dirty="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endParaRPr dirty="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• </a:t>
            </a:r>
            <a:r>
              <a:rPr err="1">
                <a:solidFill>
                  <a:schemeClr val="bg1"/>
                </a:solidFill>
              </a:rPr>
              <a:t>Cemento</a:t>
            </a:r>
            <a:r>
              <a:rPr dirty="0">
                <a:solidFill>
                  <a:schemeClr val="bg1"/>
                </a:solidFill>
              </a:rPr>
              <a:t>: Modelo </a:t>
            </a:r>
            <a:r>
              <a:rPr err="1">
                <a:solidFill>
                  <a:schemeClr val="bg1"/>
                </a:solidFill>
              </a:rPr>
              <a:t>estable</a:t>
            </a:r>
            <a:r>
              <a:rPr dirty="0">
                <a:solidFill>
                  <a:schemeClr val="bg1"/>
                </a:solidFill>
              </a:rPr>
              <a:t> y </a:t>
            </a:r>
            <a:r>
              <a:rPr err="1">
                <a:solidFill>
                  <a:schemeClr val="bg1"/>
                </a:solidFill>
              </a:rPr>
              <a:t>altamente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predictivo</a:t>
            </a:r>
            <a:r>
              <a:rPr dirty="0">
                <a:solidFill>
                  <a:schemeClr val="bg1"/>
                </a:solidFill>
              </a:rPr>
              <a:t> (R² &gt; 0.91).</a:t>
            </a:r>
            <a:endParaRPr dirty="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• Arena: </a:t>
            </a:r>
            <a:r>
              <a:rPr dirty="0" err="1">
                <a:solidFill>
                  <a:schemeClr val="bg1"/>
                </a:solidFill>
              </a:rPr>
              <a:t>Variabilidad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alta</a:t>
            </a:r>
            <a:r>
              <a:rPr dirty="0">
                <a:solidFill>
                  <a:schemeClr val="bg1"/>
                </a:solidFill>
              </a:rPr>
              <a:t> — la </a:t>
            </a:r>
            <a:r>
              <a:rPr dirty="0" err="1">
                <a:solidFill>
                  <a:schemeClr val="bg1"/>
                </a:solidFill>
              </a:rPr>
              <a:t>inflación</a:t>
            </a:r>
            <a:r>
              <a:rPr dirty="0">
                <a:solidFill>
                  <a:schemeClr val="bg1"/>
                </a:solidFill>
              </a:rPr>
              <a:t> no es un predictor </a:t>
            </a:r>
            <a:r>
              <a:rPr dirty="0" err="1">
                <a:solidFill>
                  <a:schemeClr val="bg1"/>
                </a:solidFill>
              </a:rPr>
              <a:t>adecuado</a:t>
            </a:r>
            <a:r>
              <a:rPr dirty="0">
                <a:solidFill>
                  <a:schemeClr val="bg1"/>
                </a:solidFill>
              </a:rPr>
              <a:t>.</a:t>
            </a:r>
            <a:endParaRPr dirty="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• Hierro: </a:t>
            </a:r>
            <a:r>
              <a:rPr dirty="0" err="1">
                <a:solidFill>
                  <a:schemeClr val="bg1"/>
                </a:solidFill>
              </a:rPr>
              <a:t>Depende</a:t>
            </a:r>
            <a:r>
              <a:rPr dirty="0">
                <a:solidFill>
                  <a:schemeClr val="bg1"/>
                </a:solidFill>
              </a:rPr>
              <a:t> de </a:t>
            </a:r>
            <a:r>
              <a:rPr dirty="0" err="1">
                <a:solidFill>
                  <a:schemeClr val="bg1"/>
                </a:solidFill>
              </a:rPr>
              <a:t>factores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externos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es una </a:t>
            </a:r>
            <a:r>
              <a:rPr dirty="0" err="1">
                <a:solidFill>
                  <a:schemeClr val="bg1"/>
                </a:solidFill>
              </a:rPr>
              <a:t>predicción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limitada</a:t>
            </a:r>
            <a:r>
              <a:rPr dirty="0">
                <a:solidFill>
                  <a:schemeClr val="bg1"/>
                </a:solidFill>
              </a:rPr>
              <a:t>.</a:t>
            </a:r>
            <a:endParaRPr dirty="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• </a:t>
            </a:r>
            <a:r>
              <a:rPr dirty="0" err="1">
                <a:solidFill>
                  <a:schemeClr val="bg1"/>
                </a:solidFill>
              </a:rPr>
              <a:t>Ladrillo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Relación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débil</a:t>
            </a:r>
            <a:r>
              <a:rPr dirty="0">
                <a:solidFill>
                  <a:schemeClr val="bg1"/>
                </a:solidFill>
              </a:rPr>
              <a:t> con </a:t>
            </a:r>
            <a:r>
              <a:rPr lang="es-ES" dirty="0">
                <a:solidFill>
                  <a:schemeClr val="bg1"/>
                </a:solidFill>
              </a:rPr>
              <a:t>la </a:t>
            </a:r>
            <a:r>
              <a:rPr dirty="0">
                <a:solidFill>
                  <a:schemeClr val="bg1"/>
                </a:solidFill>
              </a:rPr>
              <a:t>inflación, </a:t>
            </a:r>
            <a:r>
              <a:rPr dirty="0" err="1">
                <a:solidFill>
                  <a:schemeClr val="bg1"/>
                </a:solidFill>
              </a:rPr>
              <a:t>predicción</a:t>
            </a:r>
            <a:r>
              <a:rPr dirty="0">
                <a:solidFill>
                  <a:schemeClr val="bg1"/>
                </a:solidFill>
              </a:rPr>
              <a:t> baja.</a:t>
            </a:r>
            <a:endParaRPr dirty="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endParaRPr dirty="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err="1">
                <a:solidFill>
                  <a:schemeClr val="bg1"/>
                </a:solidFill>
              </a:rPr>
              <a:t>Conclusión</a:t>
            </a:r>
            <a:r>
              <a:rPr dirty="0">
                <a:solidFill>
                  <a:schemeClr val="bg1"/>
                </a:solidFill>
              </a:rPr>
              <a:t>:</a:t>
            </a:r>
            <a:endParaRPr dirty="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La </a:t>
            </a:r>
            <a:r>
              <a:rPr err="1">
                <a:solidFill>
                  <a:schemeClr val="bg1"/>
                </a:solidFill>
              </a:rPr>
              <a:t>inflación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permite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estimaciones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confiables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únicamente</a:t>
            </a:r>
            <a:r>
              <a:rPr dirty="0">
                <a:solidFill>
                  <a:schemeClr val="bg1"/>
                </a:solidFill>
              </a:rPr>
              <a:t> para </a:t>
            </a:r>
            <a:r>
              <a:rPr err="1">
                <a:solidFill>
                  <a:schemeClr val="bg1"/>
                </a:solidFill>
              </a:rPr>
              <a:t>el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cemento</a:t>
            </a:r>
            <a:r>
              <a:rPr dirty="0">
                <a:solidFill>
                  <a:schemeClr val="bg1"/>
                </a:solidFill>
              </a:rPr>
              <a:t>.</a:t>
            </a:r>
            <a:endParaRPr dirty="0">
              <a:solidFill>
                <a:schemeClr val="bg1"/>
              </a:solidFill>
              <a:cs typeface="Segoe UI"/>
            </a:endParaRPr>
          </a:p>
          <a:p>
            <a:pPr>
              <a:defRPr sz="2000"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Para </a:t>
            </a:r>
            <a:r>
              <a:rPr err="1">
                <a:solidFill>
                  <a:schemeClr val="bg1"/>
                </a:solidFill>
              </a:rPr>
              <a:t>los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otros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materiales</a:t>
            </a:r>
            <a:r>
              <a:rPr dirty="0">
                <a:solidFill>
                  <a:schemeClr val="bg1"/>
                </a:solidFill>
              </a:rPr>
              <a:t> se </a:t>
            </a:r>
            <a:r>
              <a:rPr err="1">
                <a:solidFill>
                  <a:schemeClr val="bg1"/>
                </a:solidFill>
              </a:rPr>
              <a:t>recomienda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incorporar</a:t>
            </a:r>
            <a:r>
              <a:rPr dirty="0">
                <a:solidFill>
                  <a:schemeClr val="bg1"/>
                </a:solidFill>
              </a:rPr>
              <a:t> variables </a:t>
            </a:r>
            <a:r>
              <a:rPr err="1">
                <a:solidFill>
                  <a:schemeClr val="bg1"/>
                </a:solidFill>
              </a:rPr>
              <a:t>adicionales</a:t>
            </a:r>
            <a:r>
              <a:rPr dirty="0">
                <a:solidFill>
                  <a:schemeClr val="bg1"/>
                </a:solidFill>
              </a:rPr>
              <a:t> para </a:t>
            </a:r>
            <a:r>
              <a:rPr err="1">
                <a:solidFill>
                  <a:schemeClr val="bg1"/>
                </a:solidFill>
              </a:rPr>
              <a:t>modelos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predictivos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más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precisos</a:t>
            </a:r>
            <a:r>
              <a:rPr dirty="0">
                <a:solidFill>
                  <a:schemeClr val="bg1"/>
                </a:solidFill>
              </a:rPr>
              <a:t>.</a:t>
            </a:r>
            <a:endParaRPr dirty="0">
              <a:solidFill>
                <a:schemeClr val="bg1"/>
              </a:solidFill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Personalizado</PresentationFormat>
  <Paragraphs>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Office Theme</vt:lpstr>
      <vt:lpstr>Presentación de PowerPoint</vt:lpstr>
      <vt:lpstr>Metodología del Análisis</vt:lpstr>
      <vt:lpstr>Gráfico: CEMENTO</vt:lpstr>
      <vt:lpstr>Gráfico: ARENA</vt:lpstr>
      <vt:lpstr>Gráfico: HIERRO</vt:lpstr>
      <vt:lpstr>Gráfico: LADRILLO</vt:lpstr>
      <vt:lpstr>Resumen </vt:lpstr>
      <vt:lpstr>Conclusiones </vt:lpstr>
      <vt:lpstr>Predicciones Basadas en Inflación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318</cp:revision>
  <dcterms:created xsi:type="dcterms:W3CDTF">2013-01-27T09:14:16Z</dcterms:created>
  <dcterms:modified xsi:type="dcterms:W3CDTF">2025-11-23T09:05:33Z</dcterms:modified>
  <cp:category/>
</cp:coreProperties>
</file>